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1"/>
    <p:sldMasterId id="2147483657" r:id="rId2"/>
  </p:sldMasterIdLst>
  <p:notesMasterIdLst>
    <p:notesMasterId r:id="rId11"/>
  </p:notesMasterIdLst>
  <p:sldIdLst>
    <p:sldId id="285" r:id="rId3"/>
    <p:sldId id="257" r:id="rId4"/>
    <p:sldId id="258" r:id="rId5"/>
    <p:sldId id="259" r:id="rId6"/>
    <p:sldId id="261" r:id="rId7"/>
    <p:sldId id="260" r:id="rId8"/>
    <p:sldId id="262" r:id="rId9"/>
    <p:sldId id="286" r:id="rId10"/>
  </p:sldIdLst>
  <p:sldSz cx="12190413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4434" autoAdjust="0"/>
  </p:normalViewPr>
  <p:slideViewPr>
    <p:cSldViewPr snapToGrid="0">
      <p:cViewPr varScale="1">
        <p:scale>
          <a:sx n="84" d="100"/>
          <a:sy n="84" d="100"/>
        </p:scale>
        <p:origin x="706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3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58271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93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06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327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18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-12698" y="63690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www.cpur.in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46029" y="1173164"/>
            <a:ext cx="11161847" cy="495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ct Slide2">
  <p:cSld name="Contect Slide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-12698" y="63690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www.cpur.in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30158" y="1160464"/>
            <a:ext cx="11528512" cy="504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">
  <p:cSld name="Title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1218406" y="6172200"/>
            <a:ext cx="22348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4342606" y="6172200"/>
            <a:ext cx="3860297" cy="36512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990806" y="6172200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227807" y="152400"/>
            <a:ext cx="9144000" cy="609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lang="en-US" dirty="0" smtClean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www.cpur.in</a:t>
            </a:r>
          </a:p>
        </p:txBody>
      </p:sp>
      <p:sp>
        <p:nvSpPr>
          <p:cNvPr id="3" name="Footer Placeholder 4"/>
          <p:cNvSpPr txBox="1">
            <a:spLocks/>
          </p:cNvSpPr>
          <p:nvPr/>
        </p:nvSpPr>
        <p:spPr>
          <a:xfrm>
            <a:off x="-12698" y="6369051"/>
            <a:ext cx="12190413" cy="36512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91428" tIns="45714" rIns="91428" bIns="45714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www.cpur.in</a:t>
            </a:r>
          </a:p>
        </p:txBody>
      </p:sp>
      <p:sp>
        <p:nvSpPr>
          <p:cNvPr id="4" name="Title Placeholder 23"/>
          <p:cNvSpPr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40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rmation Slide">
  <p:cSld name="Information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1218406" y="6172200"/>
            <a:ext cx="22348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342606" y="6172200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990806" y="6172200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27807" y="152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609521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165058" y="6356355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736463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51606" y="152400"/>
            <a:ext cx="891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8359" y="365125"/>
            <a:ext cx="1696503" cy="62000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30157" y="1143001"/>
            <a:ext cx="11664705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09521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165058" y="6356355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736463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" name="Google Shape;40;p7"/>
          <p:cNvGrpSpPr/>
          <p:nvPr/>
        </p:nvGrpSpPr>
        <p:grpSpPr>
          <a:xfrm>
            <a:off x="-794" y="5791200"/>
            <a:ext cx="12192793" cy="1066800"/>
            <a:chOff x="-794" y="5791200"/>
            <a:chExt cx="12192794" cy="1066800"/>
          </a:xfrm>
        </p:grpSpPr>
        <p:grpSp>
          <p:nvGrpSpPr>
            <p:cNvPr id="41" name="Google Shape;41;p7"/>
            <p:cNvGrpSpPr/>
            <p:nvPr/>
          </p:nvGrpSpPr>
          <p:grpSpPr>
            <a:xfrm>
              <a:off x="0" y="5791200"/>
              <a:ext cx="12192000" cy="1066800"/>
              <a:chOff x="0" y="5791200"/>
              <a:chExt cx="12192000" cy="1066800"/>
            </a:xfrm>
          </p:grpSpPr>
          <p:sp>
            <p:nvSpPr>
              <p:cNvPr id="42" name="Google Shape;42;p7"/>
              <p:cNvSpPr/>
              <p:nvPr/>
            </p:nvSpPr>
            <p:spPr>
              <a:xfrm rot="10800000">
                <a:off x="0" y="5791200"/>
                <a:ext cx="12192000" cy="1066800"/>
              </a:xfrm>
              <a:prstGeom prst="rect">
                <a:avLst/>
              </a:prstGeom>
              <a:solidFill>
                <a:srgbClr val="1306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7"/>
              <p:cNvSpPr/>
              <p:nvPr/>
            </p:nvSpPr>
            <p:spPr>
              <a:xfrm rot="10800000">
                <a:off x="0" y="5791200"/>
                <a:ext cx="12192000" cy="18097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4" name="Google Shape;44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794" y="5792970"/>
              <a:ext cx="894148" cy="1065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" name="Google Shape;45;p7"/>
          <p:cNvGrpSpPr/>
          <p:nvPr/>
        </p:nvGrpSpPr>
        <p:grpSpPr>
          <a:xfrm>
            <a:off x="0" y="0"/>
            <a:ext cx="12191999" cy="1066800"/>
            <a:chOff x="0" y="0"/>
            <a:chExt cx="12192000" cy="1066800"/>
          </a:xfrm>
        </p:grpSpPr>
        <p:grpSp>
          <p:nvGrpSpPr>
            <p:cNvPr id="46" name="Google Shape;46;p7"/>
            <p:cNvGrpSpPr/>
            <p:nvPr/>
          </p:nvGrpSpPr>
          <p:grpSpPr>
            <a:xfrm>
              <a:off x="0" y="0"/>
              <a:ext cx="12192000" cy="1066800"/>
              <a:chOff x="0" y="0"/>
              <a:chExt cx="12192000" cy="1066800"/>
            </a:xfrm>
          </p:grpSpPr>
          <p:sp>
            <p:nvSpPr>
              <p:cNvPr id="47" name="Google Shape;47;p7"/>
              <p:cNvSpPr/>
              <p:nvPr/>
            </p:nvSpPr>
            <p:spPr>
              <a:xfrm>
                <a:off x="0" y="0"/>
                <a:ext cx="12192000" cy="1066800"/>
              </a:xfrm>
              <a:prstGeom prst="rect">
                <a:avLst/>
              </a:prstGeom>
              <a:solidFill>
                <a:srgbClr val="1306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7"/>
              <p:cNvSpPr/>
              <p:nvPr/>
            </p:nvSpPr>
            <p:spPr>
              <a:xfrm>
                <a:off x="0" y="885825"/>
                <a:ext cx="12192000" cy="18097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9" name="Google Shape;49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75896" y="0"/>
              <a:ext cx="2315311" cy="9858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75995" y="137160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3656806" y="3429000"/>
            <a:ext cx="5257800" cy="76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7308" y="1857223"/>
            <a:ext cx="10666643" cy="707886"/>
          </a:xfrm>
          <a:prstGeom prst="rect">
            <a:avLst/>
          </a:prstGeom>
        </p:spPr>
        <p:txBody>
          <a:bodyPr wrap="square">
            <a:spAutoFit/>
            <a:scene3d>
              <a:camera prst="perspectiveFront"/>
              <a:lightRig rig="threePt" dir="t"/>
            </a:scene3d>
          </a:bodyPr>
          <a:lstStyle/>
          <a:p>
            <a:pPr algn="ctr"/>
            <a:r>
              <a:rPr lang="en-IN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Billing System for Supermarket</a:t>
            </a:r>
            <a:endParaRPr lang="en-IN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07177" y="4292985"/>
            <a:ext cx="5609225" cy="101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u="sng" dirty="0">
                <a:latin typeface="Times New Roman" pitchFamily="18" charset="0"/>
                <a:cs typeface="Times New Roman" pitchFamily="18" charset="0"/>
              </a:rPr>
              <a:t>Submitted By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:</a:t>
            </a:r>
            <a:endParaRPr lang="en-US" b="1" u="sng" dirty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Aditya Sharma(K26798)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Ayan Ali(K27420)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481" y="4357573"/>
            <a:ext cx="5785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latin typeface="Times New Roman" pitchFamily="18" charset="0"/>
                <a:cs typeface="Times New Roman" pitchFamily="18" charset="0"/>
              </a:rPr>
              <a:t>Submitted To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</a:rPr>
              <a:t>Mr. Arshad Hussain</a:t>
            </a:r>
            <a:endParaRPr lang="en-IN" u="sng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School of Computer Application and Technology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0157" y="286022"/>
            <a:ext cx="9726933" cy="564244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357589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357589" y="1528550"/>
            <a:ext cx="7216918" cy="333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Introduction &amp; Purpose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Scope &amp; Objectives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Technologies &amp; Key Features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Requirements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/>
              <a:t>System Design &amp; Future Enhancements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en-IN" dirty="0"/>
              <a:t>Introduction &amp; Purpose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0F311-BF32-D2BD-EE7E-E6FBC0A3B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158" y="1028700"/>
            <a:ext cx="11528512" cy="51816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Introduction</a:t>
            </a:r>
            <a:endParaRPr lang="en-US" sz="1800" b="1" dirty="0"/>
          </a:p>
          <a:p>
            <a:r>
              <a:rPr lang="en-US" sz="1800" dirty="0"/>
              <a:t>Python-based system to automate supermarket billing.</a:t>
            </a:r>
          </a:p>
          <a:p>
            <a:r>
              <a:rPr lang="en-US" sz="1800" dirty="0"/>
              <a:t>Reduces manual effort, ensures accuracy, stores records</a:t>
            </a:r>
            <a:r>
              <a:rPr lang="en-US" sz="20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Purpose</a:t>
            </a:r>
            <a:endParaRPr lang="en-US" dirty="0"/>
          </a:p>
          <a:p>
            <a:r>
              <a:rPr lang="en-US" sz="1900" dirty="0"/>
              <a:t>Demonstrate Python concepts: loops, lists, dictionaries, functions, file handling, exception handling, OOP.</a:t>
            </a:r>
          </a:p>
          <a:p>
            <a:r>
              <a:rPr lang="en-US" sz="1900" dirty="0"/>
              <a:t>Serve as reference for developers and educational purpose.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30158" y="385435"/>
            <a:ext cx="9670400" cy="54442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en-IN" dirty="0"/>
              <a:t>Scope &amp;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330158" y="929857"/>
            <a:ext cx="11461507" cy="543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Scope</a:t>
            </a:r>
          </a:p>
          <a:p>
            <a:r>
              <a:rPr lang="en-US" sz="1800" dirty="0"/>
              <a:t>Manage products and billing efficiently.</a:t>
            </a:r>
          </a:p>
          <a:p>
            <a:r>
              <a:rPr lang="en-US" sz="1800" dirty="0"/>
              <a:t>Persistent data storage using files.</a:t>
            </a:r>
          </a:p>
          <a:p>
            <a:r>
              <a:rPr lang="en-US" sz="1800" dirty="0"/>
              <a:t>Console-based interface with input validation and error handling</a:t>
            </a:r>
            <a:r>
              <a:rPr lang="en-US" sz="2000" dirty="0"/>
              <a:t>.</a:t>
            </a:r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Objectives</a:t>
            </a:r>
            <a:endParaRPr lang="en-US" sz="1800" b="1" dirty="0"/>
          </a:p>
          <a:p>
            <a:r>
              <a:rPr lang="en-US" sz="1900" dirty="0"/>
              <a:t>Apply Python practically.</a:t>
            </a:r>
          </a:p>
          <a:p>
            <a:r>
              <a:rPr lang="en-US" sz="1900" dirty="0"/>
              <a:t>Integrate control structures, functions, and OOP.</a:t>
            </a:r>
          </a:p>
          <a:p>
            <a:r>
              <a:rPr lang="en-US" sz="1900" dirty="0"/>
              <a:t>Simulate real-world billing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01E6-F7B4-7738-E2B9-EBFD3BD0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Technologies &amp; Key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2A92B-159F-A463-89D9-B7BEFF1BF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158" y="1261460"/>
            <a:ext cx="11611634" cy="433508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Technologies Used</a:t>
            </a:r>
          </a:p>
          <a:p>
            <a:r>
              <a:rPr lang="en-IN" sz="1800" dirty="0"/>
              <a:t>Python 3.x, </a:t>
            </a:r>
            <a:r>
              <a:rPr lang="en-IN" sz="1800" dirty="0" err="1"/>
              <a:t>os</a:t>
            </a:r>
            <a:r>
              <a:rPr lang="en-IN" sz="1800" dirty="0"/>
              <a:t>, datetime, csv, </a:t>
            </a:r>
            <a:r>
              <a:rPr lang="en-IN" sz="1800" dirty="0" err="1"/>
              <a:t>json</a:t>
            </a:r>
            <a:r>
              <a:rPr lang="en-IN" sz="1800" dirty="0"/>
              <a:t>, random</a:t>
            </a:r>
          </a:p>
          <a:p>
            <a:r>
              <a:rPr lang="en-IN" sz="1800" dirty="0"/>
              <a:t>Platform: Windows/Linux, </a:t>
            </a:r>
          </a:p>
          <a:p>
            <a:r>
              <a:rPr lang="en-IN" sz="1800" dirty="0"/>
              <a:t>IDE: </a:t>
            </a:r>
            <a:r>
              <a:rPr lang="en-IN" sz="1800" dirty="0" err="1"/>
              <a:t>JupyterNotebook</a:t>
            </a:r>
            <a:endParaRPr lang="en-IN" sz="1800" dirty="0"/>
          </a:p>
          <a:p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Key Features</a:t>
            </a:r>
          </a:p>
          <a:p>
            <a:r>
              <a:rPr lang="en-IN" sz="1900" dirty="0"/>
              <a:t>User Login (optional)</a:t>
            </a:r>
          </a:p>
          <a:p>
            <a:r>
              <a:rPr lang="en-IN" sz="1900" dirty="0"/>
              <a:t>Product Management (add/edit/delete/search)</a:t>
            </a:r>
          </a:p>
          <a:p>
            <a:r>
              <a:rPr lang="en-IN" sz="1900" dirty="0"/>
              <a:t>Billing Module (generate totals &amp; discounts)</a:t>
            </a:r>
          </a:p>
          <a:p>
            <a:r>
              <a:rPr lang="en-IN" sz="1900" dirty="0"/>
              <a:t>File Handling &amp; Report Generation</a:t>
            </a:r>
          </a:p>
          <a:p>
            <a:r>
              <a:rPr lang="en-IN" sz="1900" dirty="0"/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99992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en-IN" dirty="0"/>
              <a:t>Requirements</a:t>
            </a: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330156" y="1115156"/>
            <a:ext cx="11666225" cy="462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Functional Requirements</a:t>
            </a:r>
          </a:p>
          <a:p>
            <a:r>
              <a:rPr lang="en-US" sz="2100" dirty="0"/>
              <a:t>Login &amp; validation</a:t>
            </a:r>
          </a:p>
          <a:p>
            <a:r>
              <a:rPr lang="en-US" sz="2100" dirty="0"/>
              <a:t>Product management</a:t>
            </a:r>
          </a:p>
          <a:p>
            <a:r>
              <a:rPr lang="en-US" sz="2100" dirty="0"/>
              <a:t>Billing: generate bills, apply discounts</a:t>
            </a:r>
          </a:p>
          <a:p>
            <a:r>
              <a:rPr lang="en-US" sz="2100" dirty="0"/>
              <a:t>File handling &amp; persistence</a:t>
            </a:r>
          </a:p>
          <a:p>
            <a:r>
              <a:rPr lang="en-US" sz="2100" dirty="0"/>
              <a:t>Error handling &amp; reports</a:t>
            </a:r>
          </a:p>
          <a:p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3000" b="1" dirty="0"/>
              <a:t>Non-Functional Requirements</a:t>
            </a:r>
          </a:p>
          <a:p>
            <a:r>
              <a:rPr lang="en-IN" sz="2300" dirty="0"/>
              <a:t>Performance: 500 records</a:t>
            </a:r>
          </a:p>
          <a:p>
            <a:r>
              <a:rPr lang="en-IN" sz="2300" dirty="0"/>
              <a:t>Usability: Simple text menus</a:t>
            </a:r>
          </a:p>
          <a:p>
            <a:r>
              <a:rPr lang="en-IN" sz="2300" dirty="0"/>
              <a:t>Reliability: Data saved after each operation</a:t>
            </a:r>
          </a:p>
          <a:p>
            <a:r>
              <a:rPr lang="en-IN" sz="2300" dirty="0"/>
              <a:t>Portability: Runs on Python 3.x</a:t>
            </a:r>
          </a:p>
          <a:p>
            <a:r>
              <a:rPr lang="en-IN" sz="2300" dirty="0"/>
              <a:t>Maintainability: Modular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1FD4-6650-4C37-5189-18B2FAAA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System Design &amp; 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85E75A-2CF5-464C-48A5-335BA9257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3148" y="1573334"/>
            <a:ext cx="10500519" cy="376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System Design (High-Level)</a:t>
            </a:r>
          </a:p>
          <a:p>
            <a:r>
              <a:rPr lang="en-IN" sz="1800" dirty="0"/>
              <a:t>User Input → Processing &amp; Logic → File Handling → Output/Reports</a:t>
            </a:r>
          </a:p>
          <a:p>
            <a:pPr marL="114300" indent="0">
              <a:buNone/>
            </a:pPr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Future Enhancements</a:t>
            </a:r>
          </a:p>
          <a:p>
            <a:r>
              <a:rPr lang="en-IN" sz="1800" dirty="0"/>
              <a:t>GUI with </a:t>
            </a:r>
            <a:r>
              <a:rPr lang="en-IN" sz="1800" dirty="0" err="1"/>
              <a:t>Tkinter</a:t>
            </a:r>
            <a:endParaRPr lang="en-IN" sz="1800" dirty="0"/>
          </a:p>
          <a:p>
            <a:r>
              <a:rPr lang="en-IN" sz="1800" dirty="0"/>
              <a:t>Database integration (SQLite/MySQL)</a:t>
            </a:r>
          </a:p>
          <a:p>
            <a:r>
              <a:rPr lang="en-IN" sz="1800" dirty="0"/>
              <a:t>Barcode scanning</a:t>
            </a:r>
          </a:p>
          <a:p>
            <a:r>
              <a:rPr lang="en-IN" sz="1800" dirty="0"/>
              <a:t>Data visualization (matplotlib)</a:t>
            </a:r>
          </a:p>
          <a:p>
            <a:r>
              <a:rPr lang="en-IN" sz="1800" dirty="0"/>
              <a:t>Different user roles (Admin/Cashier)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D662CE-4EE4-8990-82E5-3EE515A97F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30157" y="929443"/>
            <a:ext cx="648252" cy="53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0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1811-604E-184A-867F-70DBE990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6E26-0FDD-456C-26F7-ACF1E0F4C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8CA46E-0606-C4E2-97D2-4C1C8D81F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3148" y="2848042"/>
            <a:ext cx="10500519" cy="121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 algn="ctr">
              <a:buNone/>
            </a:pPr>
            <a:r>
              <a:rPr lang="en-US" sz="720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87C927-E6F3-F45F-A4B9-78AC8FAE4C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30157" y="929443"/>
            <a:ext cx="648252" cy="53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2253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3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cture PPT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314</Words>
  <Application>Microsoft Office PowerPoint</Application>
  <PresentationFormat>Custom</PresentationFormat>
  <Paragraphs>72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Calibri</vt:lpstr>
      <vt:lpstr>Noto Sans Symbols</vt:lpstr>
      <vt:lpstr>Times New Roman</vt:lpstr>
      <vt:lpstr>Wingdings</vt:lpstr>
      <vt:lpstr>Template 3</vt:lpstr>
      <vt:lpstr>Lecture PPT Template</vt:lpstr>
      <vt:lpstr> </vt:lpstr>
      <vt:lpstr>Table of Content</vt:lpstr>
      <vt:lpstr>Introduction &amp; Purpose</vt:lpstr>
      <vt:lpstr>Scope &amp; Objectives</vt:lpstr>
      <vt:lpstr>Technologies &amp; Key Features</vt:lpstr>
      <vt:lpstr>Requirements</vt:lpstr>
      <vt:lpstr>System Design &amp; Future Enhancements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ROOM BOOKING SYSTEM</dc:title>
  <dc:creator>Lenovo</dc:creator>
  <cp:lastModifiedBy>Aditya Sharma</cp:lastModifiedBy>
  <cp:revision>22</cp:revision>
  <dcterms:modified xsi:type="dcterms:W3CDTF">2025-11-08T04:43:24Z</dcterms:modified>
</cp:coreProperties>
</file>