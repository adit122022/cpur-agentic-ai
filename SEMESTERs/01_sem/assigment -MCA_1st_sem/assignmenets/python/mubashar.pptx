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1"/>
    <p:sldMasterId id="2147483657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</p:sldIdLst>
  <p:sldSz cx="12190413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1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8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3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58271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962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993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06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327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183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rmation Slide">
  <p:cSld name="Information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361406" y="3352800"/>
            <a:ext cx="7467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218406" y="1371600"/>
            <a:ext cx="9372600" cy="1295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0" y="63563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-12698" y="63690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www.cpur.in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46029" y="1173164"/>
            <a:ext cx="11161847" cy="495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ct Slide2">
  <p:cSld name="Contect Slide2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0" y="63563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-12698" y="63690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www.cpur.in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30158" y="1160464"/>
            <a:ext cx="11528512" cy="5049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ayout">
  <p:cSld name="Title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2361406" y="3352800"/>
            <a:ext cx="7467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218406" y="1371600"/>
            <a:ext cx="9372600" cy="1295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dt" idx="10"/>
          </p:nvPr>
        </p:nvSpPr>
        <p:spPr>
          <a:xfrm>
            <a:off x="1218406" y="6172200"/>
            <a:ext cx="22348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ftr" idx="11"/>
          </p:nvPr>
        </p:nvSpPr>
        <p:spPr>
          <a:xfrm>
            <a:off x="4342606" y="6172200"/>
            <a:ext cx="3860297" cy="36512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990806" y="6172200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7406" y="1295400"/>
            <a:ext cx="1074340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227807" y="152400"/>
            <a:ext cx="9144000" cy="609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rmation Slide">
  <p:cSld name="Information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2361406" y="3352800"/>
            <a:ext cx="7467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218406" y="1371600"/>
            <a:ext cx="93726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1218406" y="6172200"/>
            <a:ext cx="22348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4342606" y="6172200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990806" y="6172200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837406" y="1295400"/>
            <a:ext cx="1074340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27807" y="152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609521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165058" y="6356355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736463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37406" y="1295400"/>
            <a:ext cx="1074340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51606" y="152400"/>
            <a:ext cx="8915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8359" y="365125"/>
            <a:ext cx="1696503" cy="62000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0" y="6356351"/>
            <a:ext cx="12190413" cy="36512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30157" y="1143001"/>
            <a:ext cx="11664705" cy="503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609521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165058" y="6356355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736463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0" name="Google Shape;40;p7"/>
          <p:cNvGrpSpPr/>
          <p:nvPr/>
        </p:nvGrpSpPr>
        <p:grpSpPr>
          <a:xfrm>
            <a:off x="-794" y="5791200"/>
            <a:ext cx="12192793" cy="1066800"/>
            <a:chOff x="-794" y="5791200"/>
            <a:chExt cx="12192794" cy="1066800"/>
          </a:xfrm>
        </p:grpSpPr>
        <p:grpSp>
          <p:nvGrpSpPr>
            <p:cNvPr id="41" name="Google Shape;41;p7"/>
            <p:cNvGrpSpPr/>
            <p:nvPr/>
          </p:nvGrpSpPr>
          <p:grpSpPr>
            <a:xfrm>
              <a:off x="0" y="5791200"/>
              <a:ext cx="12192000" cy="1066800"/>
              <a:chOff x="0" y="5791200"/>
              <a:chExt cx="12192000" cy="1066800"/>
            </a:xfrm>
          </p:grpSpPr>
          <p:sp>
            <p:nvSpPr>
              <p:cNvPr id="42" name="Google Shape;42;p7"/>
              <p:cNvSpPr/>
              <p:nvPr/>
            </p:nvSpPr>
            <p:spPr>
              <a:xfrm rot="10800000">
                <a:off x="0" y="5791200"/>
                <a:ext cx="12192000" cy="1066800"/>
              </a:xfrm>
              <a:prstGeom prst="rect">
                <a:avLst/>
              </a:prstGeom>
              <a:solidFill>
                <a:srgbClr val="1306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7"/>
              <p:cNvSpPr/>
              <p:nvPr/>
            </p:nvSpPr>
            <p:spPr>
              <a:xfrm rot="10800000">
                <a:off x="0" y="5791200"/>
                <a:ext cx="12192000" cy="18097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44" name="Google Shape;44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794" y="5792970"/>
              <a:ext cx="894148" cy="10650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" name="Google Shape;45;p7"/>
          <p:cNvGrpSpPr/>
          <p:nvPr/>
        </p:nvGrpSpPr>
        <p:grpSpPr>
          <a:xfrm>
            <a:off x="0" y="0"/>
            <a:ext cx="12191999" cy="1066800"/>
            <a:chOff x="0" y="0"/>
            <a:chExt cx="12192000" cy="1066800"/>
          </a:xfrm>
        </p:grpSpPr>
        <p:grpSp>
          <p:nvGrpSpPr>
            <p:cNvPr id="46" name="Google Shape;46;p7"/>
            <p:cNvGrpSpPr/>
            <p:nvPr/>
          </p:nvGrpSpPr>
          <p:grpSpPr>
            <a:xfrm>
              <a:off x="0" y="0"/>
              <a:ext cx="12192000" cy="1066800"/>
              <a:chOff x="0" y="0"/>
              <a:chExt cx="12192000" cy="1066800"/>
            </a:xfrm>
          </p:grpSpPr>
          <p:sp>
            <p:nvSpPr>
              <p:cNvPr id="47" name="Google Shape;47;p7"/>
              <p:cNvSpPr/>
              <p:nvPr/>
            </p:nvSpPr>
            <p:spPr>
              <a:xfrm>
                <a:off x="0" y="0"/>
                <a:ext cx="12192000" cy="1066800"/>
              </a:xfrm>
              <a:prstGeom prst="rect">
                <a:avLst/>
              </a:prstGeom>
              <a:solidFill>
                <a:srgbClr val="1306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7"/>
              <p:cNvSpPr/>
              <p:nvPr/>
            </p:nvSpPr>
            <p:spPr>
              <a:xfrm>
                <a:off x="0" y="885825"/>
                <a:ext cx="12192000" cy="18097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49" name="Google Shape;49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75896" y="0"/>
              <a:ext cx="2315311" cy="9858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75995" y="137160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3656806" y="3429000"/>
            <a:ext cx="5257800" cy="76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194278" y="361442"/>
            <a:ext cx="9877770" cy="1295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000000"/>
              </a:buClr>
            </a:pPr>
            <a:r>
              <a:rPr lang="en-IN" dirty="0"/>
              <a:t>Online Course Registration System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6D37F5-D1AC-44CF-3BF5-4BFD352C5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60395"/>
            <a:ext cx="12190413" cy="3976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4278" y="2107218"/>
            <a:ext cx="11788456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Software Requirements Specification (SRS)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Course: Programming with Python (CAL813)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Prepared by: </a:t>
            </a:r>
            <a:r>
              <a:rPr lang="en-US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Mubasshara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Ansari &amp;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Unnati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Tyagi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Submitted to: Mr. Arshad Hussain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School of Computer Applications, 1st Semester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357589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357589" y="1528550"/>
            <a:ext cx="7216918" cy="333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/>
              <a:t>Introduction &amp; Purpose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/>
              <a:t>Scope &amp; Objectives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/>
              <a:t>Technologies &amp; Key Features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/>
              <a:t>Requirements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/>
              <a:t>System Design &amp; Future Enhancements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r>
              <a:rPr lang="en-IN" dirty="0"/>
              <a:t>Introduction &amp; Purpose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E40F311-BF32-D2BD-EE7E-E6FBC0A3B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158" y="1028700"/>
            <a:ext cx="11528512" cy="51816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Introduction</a:t>
            </a:r>
            <a:endParaRPr lang="en-US" sz="18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smtClean="0"/>
              <a:t>Digital </a:t>
            </a:r>
            <a:r>
              <a:rPr lang="en-US" sz="2000" dirty="0"/>
              <a:t>platform for student course registration.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smtClean="0"/>
              <a:t>Reduces </a:t>
            </a:r>
            <a:r>
              <a:rPr lang="en-US" sz="2000" dirty="0"/>
              <a:t>manual errors, saves time, ensures transparency</a:t>
            </a:r>
            <a:r>
              <a:rPr lang="en-US" sz="20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Purpose</a:t>
            </a:r>
            <a:endParaRPr lang="en-US" dirty="0"/>
          </a:p>
          <a:p>
            <a:pPr lvl="1"/>
            <a:r>
              <a:rPr lang="en-US" sz="2000" dirty="0" smtClean="0"/>
              <a:t>Define </a:t>
            </a:r>
            <a:r>
              <a:rPr lang="en-US" sz="2000" dirty="0"/>
              <a:t>functionalities and performance requirements.</a:t>
            </a:r>
          </a:p>
          <a:p>
            <a:pPr lvl="1"/>
            <a:r>
              <a:rPr lang="en-US" sz="2000" dirty="0" smtClean="0"/>
              <a:t>Reference </a:t>
            </a:r>
            <a:r>
              <a:rPr lang="en-US" sz="2000" dirty="0"/>
              <a:t>for developers, testers, and stakeholders.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30158" y="385435"/>
            <a:ext cx="9670400" cy="54442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r>
              <a:rPr lang="en-IN" dirty="0"/>
              <a:t>Scope &amp; 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330158" y="929857"/>
            <a:ext cx="11461507" cy="5431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Scope</a:t>
            </a:r>
            <a:endParaRPr lang="en-US" b="1" dirty="0"/>
          </a:p>
          <a:p>
            <a:pPr lvl="1"/>
            <a:r>
              <a:rPr lang="en-US" sz="2000" dirty="0" smtClean="0"/>
              <a:t>Students </a:t>
            </a:r>
            <a:r>
              <a:rPr lang="en-US" sz="2000" dirty="0"/>
              <a:t>can browse and register for courses.</a:t>
            </a:r>
          </a:p>
          <a:p>
            <a:pPr lvl="1"/>
            <a:r>
              <a:rPr lang="en-US" sz="2000" dirty="0" smtClean="0"/>
              <a:t>Admins </a:t>
            </a:r>
            <a:r>
              <a:rPr lang="en-US" sz="2000" dirty="0"/>
              <a:t>can manage courses and registrations.</a:t>
            </a:r>
          </a:p>
          <a:p>
            <a:pPr lvl="1"/>
            <a:r>
              <a:rPr lang="en-US" sz="2000" dirty="0" smtClean="0"/>
              <a:t>Generates </a:t>
            </a:r>
            <a:r>
              <a:rPr lang="en-US" sz="2000" dirty="0"/>
              <a:t>confirmation receipts and maintains records.</a:t>
            </a:r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Objectives</a:t>
            </a:r>
            <a:endParaRPr lang="en-US" sz="1800" b="1" dirty="0"/>
          </a:p>
          <a:p>
            <a:pPr lvl="1"/>
            <a:r>
              <a:rPr lang="en-US" sz="2000" dirty="0" smtClean="0"/>
              <a:t>Automate </a:t>
            </a:r>
            <a:r>
              <a:rPr lang="en-US" sz="2000" dirty="0"/>
              <a:t>registration </a:t>
            </a:r>
            <a:r>
              <a:rPr lang="en-US" sz="2000" dirty="0" smtClean="0"/>
              <a:t>process.</a:t>
            </a:r>
          </a:p>
          <a:p>
            <a:pPr lvl="1"/>
            <a:r>
              <a:rPr lang="en-US" sz="2000" dirty="0" smtClean="0"/>
              <a:t>Ensure data accuracy and prevent duplicates.</a:t>
            </a:r>
          </a:p>
          <a:p>
            <a:pPr lvl="1"/>
            <a:r>
              <a:rPr lang="en-US" sz="2000" dirty="0" smtClean="0"/>
              <a:t>Provide </a:t>
            </a:r>
            <a:r>
              <a:rPr lang="en-US" sz="2000" dirty="0"/>
              <a:t>secure and user-friendly interface.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E901E6-F7B4-7738-E2B9-EBFD3BD0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Technologies &amp; Key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5F2A92B-159F-A463-89D9-B7BEFF1BF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158" y="1261460"/>
            <a:ext cx="11611634" cy="43350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Technologies </a:t>
            </a:r>
            <a:r>
              <a:rPr lang="en-IN" b="1" dirty="0" smtClean="0"/>
              <a:t>Used</a:t>
            </a:r>
            <a:endParaRPr lang="en-IN" b="1" dirty="0"/>
          </a:p>
          <a:p>
            <a:pPr lvl="1"/>
            <a:r>
              <a:rPr lang="en-IN" sz="2000" dirty="0" smtClean="0"/>
              <a:t>Frontend</a:t>
            </a:r>
            <a:r>
              <a:rPr lang="en-IN" sz="2000" dirty="0"/>
              <a:t>: HTML, CSS, JS / React</a:t>
            </a:r>
          </a:p>
          <a:p>
            <a:pPr lvl="1"/>
            <a:r>
              <a:rPr lang="en-IN" sz="2000" dirty="0" smtClean="0"/>
              <a:t>Backend</a:t>
            </a:r>
            <a:r>
              <a:rPr lang="en-IN" sz="2000" dirty="0"/>
              <a:t>: PHP / Python / Node.js</a:t>
            </a:r>
          </a:p>
          <a:p>
            <a:pPr lvl="1"/>
            <a:r>
              <a:rPr lang="en-IN" sz="2000" dirty="0" smtClean="0"/>
              <a:t>Database</a:t>
            </a:r>
            <a:r>
              <a:rPr lang="en-IN" sz="2000" dirty="0"/>
              <a:t>: MySQL / PostgreSQL</a:t>
            </a:r>
          </a:p>
          <a:p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Key </a:t>
            </a:r>
            <a:r>
              <a:rPr lang="en-IN" b="1" dirty="0" smtClean="0"/>
              <a:t>Features</a:t>
            </a:r>
          </a:p>
          <a:p>
            <a:pPr lvl="1"/>
            <a:r>
              <a:rPr lang="en-IN" sz="2000" dirty="0" smtClean="0"/>
              <a:t>Secure login for students/admins</a:t>
            </a:r>
          </a:p>
          <a:p>
            <a:pPr lvl="1"/>
            <a:r>
              <a:rPr lang="en-IN" sz="2000" dirty="0" smtClean="0"/>
              <a:t>Add/update/delete courses</a:t>
            </a:r>
          </a:p>
          <a:p>
            <a:pPr lvl="1"/>
            <a:r>
              <a:rPr lang="en-IN" sz="2000" dirty="0" smtClean="0"/>
              <a:t>Course registration &amp; confirmation</a:t>
            </a:r>
          </a:p>
          <a:p>
            <a:pPr lvl="1"/>
            <a:r>
              <a:rPr lang="en-IN" sz="2000" dirty="0" smtClean="0"/>
              <a:t>Search &amp; filter courses</a:t>
            </a:r>
          </a:p>
          <a:p>
            <a:pPr lvl="1"/>
            <a:r>
              <a:rPr lang="en-IN" sz="2000" dirty="0" smtClean="0"/>
              <a:t>Notifications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9992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r>
              <a:rPr lang="en-IN" dirty="0"/>
              <a:t>Requirements</a:t>
            </a:r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330156" y="1115156"/>
            <a:ext cx="11666225" cy="462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Functional </a:t>
            </a:r>
            <a:r>
              <a:rPr lang="en-IN" b="1" dirty="0" smtClean="0"/>
              <a:t>Requirements</a:t>
            </a:r>
            <a:endParaRPr lang="en-IN" b="1" dirty="0"/>
          </a:p>
          <a:p>
            <a:pPr lvl="1"/>
            <a:r>
              <a:rPr lang="en-IN" sz="2000" dirty="0" smtClean="0"/>
              <a:t>User </a:t>
            </a:r>
            <a:r>
              <a:rPr lang="en-IN" sz="2000" dirty="0"/>
              <a:t>Authentication</a:t>
            </a:r>
          </a:p>
          <a:p>
            <a:pPr lvl="1"/>
            <a:r>
              <a:rPr lang="en-IN" sz="2000" dirty="0" smtClean="0"/>
              <a:t>Course </a:t>
            </a:r>
            <a:r>
              <a:rPr lang="en-IN" sz="2000" dirty="0"/>
              <a:t>Management</a:t>
            </a:r>
          </a:p>
          <a:p>
            <a:pPr lvl="1"/>
            <a:r>
              <a:rPr lang="en-IN" sz="2000" dirty="0" smtClean="0"/>
              <a:t>Course </a:t>
            </a:r>
            <a:r>
              <a:rPr lang="en-IN" sz="2000" dirty="0"/>
              <a:t>Registration</a:t>
            </a:r>
          </a:p>
          <a:p>
            <a:pPr lvl="1"/>
            <a:r>
              <a:rPr lang="en-IN" sz="2000" dirty="0" smtClean="0"/>
              <a:t>Confirmation </a:t>
            </a:r>
            <a:r>
              <a:rPr lang="en-IN" sz="2000" dirty="0"/>
              <a:t>&amp; Notifications</a:t>
            </a:r>
          </a:p>
          <a:p>
            <a:pPr lvl="1"/>
            <a:r>
              <a:rPr lang="en-IN" sz="2000" dirty="0" smtClean="0"/>
              <a:t>Search </a:t>
            </a:r>
            <a:r>
              <a:rPr lang="en-IN" sz="2000" dirty="0"/>
              <a:t>&amp; Filter</a:t>
            </a:r>
          </a:p>
          <a:p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3000" b="1" dirty="0"/>
              <a:t>Non-Functional </a:t>
            </a:r>
            <a:r>
              <a:rPr lang="en-IN" sz="3000" b="1" dirty="0" smtClean="0"/>
              <a:t>Requirements</a:t>
            </a:r>
            <a:endParaRPr lang="en-IN" sz="3000" b="1" dirty="0"/>
          </a:p>
          <a:p>
            <a:pPr lvl="1"/>
            <a:r>
              <a:rPr lang="en-IN" sz="2000" dirty="0" smtClean="0"/>
              <a:t>Performance</a:t>
            </a:r>
            <a:r>
              <a:rPr lang="en-IN" sz="2000" dirty="0"/>
              <a:t>: 500 users concurrently</a:t>
            </a:r>
          </a:p>
          <a:p>
            <a:pPr lvl="1"/>
            <a:r>
              <a:rPr lang="en-IN" sz="2000" dirty="0" smtClean="0"/>
              <a:t>Security</a:t>
            </a:r>
            <a:r>
              <a:rPr lang="en-IN" sz="2000" dirty="0"/>
              <a:t>: Data encryption</a:t>
            </a:r>
          </a:p>
          <a:p>
            <a:pPr lvl="1"/>
            <a:r>
              <a:rPr lang="en-IN" sz="2000" dirty="0" smtClean="0"/>
              <a:t>Usability</a:t>
            </a:r>
            <a:r>
              <a:rPr lang="en-IN" sz="2000" dirty="0"/>
              <a:t>: Responsive design</a:t>
            </a:r>
          </a:p>
          <a:p>
            <a:pPr lvl="1"/>
            <a:r>
              <a:rPr lang="en-IN" sz="2000" dirty="0" smtClean="0"/>
              <a:t>Reliability</a:t>
            </a:r>
            <a:r>
              <a:rPr lang="en-IN" sz="2000" dirty="0"/>
              <a:t>: 99% uptime</a:t>
            </a:r>
          </a:p>
          <a:p>
            <a:pPr lvl="1"/>
            <a:r>
              <a:rPr lang="en-IN" sz="2000" dirty="0" smtClean="0"/>
              <a:t>Scalability</a:t>
            </a:r>
            <a:r>
              <a:rPr lang="en-IN" sz="2000" dirty="0"/>
              <a:t>: Future-proof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041FD4-6650-4C37-5189-18B2FAAA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System Design &amp; Future Enhancements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7185E75A-2CF5-464C-48A5-335BA9257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3148" y="1853154"/>
            <a:ext cx="10500519" cy="320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System Design (High-Level</a:t>
            </a:r>
            <a:r>
              <a:rPr lang="en-IN" b="1" dirty="0" smtClean="0"/>
              <a:t>)</a:t>
            </a:r>
            <a:endParaRPr lang="en-IN" b="1" dirty="0"/>
          </a:p>
          <a:p>
            <a:pPr lvl="1"/>
            <a:r>
              <a:rPr lang="en-IN" sz="2000" dirty="0"/>
              <a:t>User Layer → Logic Layer → Database Layer → Output/Reports</a:t>
            </a:r>
          </a:p>
          <a:p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Future </a:t>
            </a:r>
            <a:r>
              <a:rPr lang="en-IN" b="1" dirty="0" smtClean="0"/>
              <a:t>Enhancements</a:t>
            </a:r>
            <a:endParaRPr lang="en-IN" b="1" dirty="0"/>
          </a:p>
          <a:p>
            <a:pPr lvl="1"/>
            <a:r>
              <a:rPr lang="en-IN" sz="2000" dirty="0" smtClean="0"/>
              <a:t>Online </a:t>
            </a:r>
            <a:r>
              <a:rPr lang="en-IN" sz="2000" dirty="0"/>
              <a:t>payment integration</a:t>
            </a:r>
          </a:p>
          <a:p>
            <a:pPr lvl="1"/>
            <a:r>
              <a:rPr lang="en-IN" sz="2000" dirty="0" smtClean="0"/>
              <a:t>Email/SMS </a:t>
            </a:r>
            <a:r>
              <a:rPr lang="en-IN" sz="2000" dirty="0"/>
              <a:t>notifications</a:t>
            </a:r>
          </a:p>
          <a:p>
            <a:pPr lvl="1"/>
            <a:r>
              <a:rPr lang="en-IN" sz="2000" dirty="0" smtClean="0"/>
              <a:t>AI-based </a:t>
            </a:r>
            <a:r>
              <a:rPr lang="en-IN" sz="2000" dirty="0"/>
              <a:t>course recommendations</a:t>
            </a:r>
          </a:p>
          <a:p>
            <a:pPr lvl="1"/>
            <a:r>
              <a:rPr lang="en-IN" sz="2000" dirty="0" smtClean="0"/>
              <a:t>Mobile </a:t>
            </a:r>
            <a:r>
              <a:rPr lang="en-IN" sz="2000" dirty="0"/>
              <a:t>app version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7D662CE-4EE4-8990-82E5-3EE515A97F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30157" y="929443"/>
            <a:ext cx="648252" cy="53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 3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cture PPT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255</Words>
  <Application>Microsoft Office PowerPoint</Application>
  <PresentationFormat>Custom</PresentationFormat>
  <Paragraphs>67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Noto Sans Symbols</vt:lpstr>
      <vt:lpstr>Times New Roman</vt:lpstr>
      <vt:lpstr>Wingdings</vt:lpstr>
      <vt:lpstr>Template 3</vt:lpstr>
      <vt:lpstr>Lecture PPT Template</vt:lpstr>
      <vt:lpstr>Online Course Registration System</vt:lpstr>
      <vt:lpstr>Table of Content</vt:lpstr>
      <vt:lpstr>Introduction &amp; Purpose</vt:lpstr>
      <vt:lpstr>Scope &amp; Objectives</vt:lpstr>
      <vt:lpstr>Technologies &amp; Key Features</vt:lpstr>
      <vt:lpstr>Requirements</vt:lpstr>
      <vt:lpstr>System Design &amp; Future Enhancements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ROOM BOOKING SYSTEM</dc:title>
  <dc:creator>Lenovo</dc:creator>
  <cp:lastModifiedBy>DELL</cp:lastModifiedBy>
  <cp:revision>20</cp:revision>
  <dcterms:modified xsi:type="dcterms:W3CDTF">2025-11-07T18:54:26Z</dcterms:modified>
</cp:coreProperties>
</file>